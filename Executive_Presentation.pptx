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8" r:id="rId4"/>
    <p:sldId id="259" r:id="rId5"/>
    <p:sldId id="260" r:id="rId6"/>
    <p:sldId id="27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17"/>
    <p:restoredTop sz="94634"/>
  </p:normalViewPr>
  <p:slideViewPr>
    <p:cSldViewPr snapToGrid="0" snapToObjects="1">
      <p:cViewPr varScale="1">
        <p:scale>
          <a:sx n="136" d="100"/>
          <a:sy n="136" d="100"/>
        </p:scale>
        <p:origin x="8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20272" y="0"/>
            <a:ext cx="868680" cy="86868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9144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Hospital Operations &amp;
Revenue Risk Intelligence
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49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ABEC1"/>
                </a:solidFill>
                <a:latin typeface="Calibri"/>
              </a:rPr>
              <a:t>AMARENDRANADH VEEREPALLI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0" y="0"/>
            <a:ext cx="1216152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is the Hospital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Intelligence Platform?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2507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E8A02A"/>
                </a:solidFill>
              </a:rPr>
              <a:t>► </a:t>
            </a:r>
            <a:r>
              <a:rPr sz="1600" b="1" dirty="0">
                <a:solidFill>
                  <a:srgbClr val="E8A02A"/>
                </a:solidFill>
              </a:rP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852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An AI-driven decision-support platform that predicts patient visit risk and insurance claim outcomes in </a:t>
            </a:r>
            <a:r>
              <a:rPr sz="1400" b="0" i="0" dirty="0">
                <a:solidFill>
                  <a:srgbClr val="FFFFFF"/>
                </a:solidFill>
              </a:rPr>
              <a:t>real</a:t>
            </a:r>
            <a:r>
              <a:rPr sz="1300" b="0" i="0" dirty="0">
                <a:solidFill>
                  <a:srgbClr val="FFFFFF"/>
                </a:solidFill>
              </a:rPr>
              <a:t> time</a:t>
            </a:r>
            <a:r>
              <a:rPr lang="en-US" sz="1300" b="0" i="0" dirty="0">
                <a:solidFill>
                  <a:srgbClr val="FFFFFF"/>
                </a:solidFill>
              </a:rPr>
              <a:t>, </a:t>
            </a:r>
            <a:r>
              <a:rPr sz="1300" b="0" i="0" dirty="0">
                <a:solidFill>
                  <a:srgbClr val="FFFFFF"/>
                </a:solidFill>
              </a:rPr>
              <a:t>enabling proactive clinical decisions and reducing revenue leakage.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12952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E8A02A"/>
                </a:solidFill>
              </a:rPr>
              <a:t>► </a:t>
            </a:r>
            <a:r>
              <a:rPr sz="1600" b="1" dirty="0">
                <a:solidFill>
                  <a:srgbClr val="E8A02A"/>
                </a:solidFill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585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</a:rPr>
              <a:t>► Predict visit risk (High / Medium / Low) before escalation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94760"/>
            <a:ext cx="585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► Predict claim outcome (Paid / Pending / Rejected) pre-submission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97680"/>
            <a:ext cx="585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► Reduce claim rejection rate by 22% through pre-submission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00600"/>
            <a:ext cx="585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</a:rPr>
              <a:t>► Deploy as real-time API for hospital systems &amp; dashboards</a:t>
            </a:r>
          </a:p>
        </p:txBody>
      </p:sp>
      <p:sp>
        <p:nvSpPr>
          <p:cNvPr id="13" name="Oval 12"/>
          <p:cNvSpPr/>
          <p:nvPr/>
        </p:nvSpPr>
        <p:spPr>
          <a:xfrm>
            <a:off x="6972299" y="1394459"/>
            <a:ext cx="4709160" cy="4709160"/>
          </a:xfrm>
          <a:prstGeom prst="ellipse">
            <a:avLst/>
          </a:prstGeom>
          <a:noFill/>
          <a:ln w="19050">
            <a:solidFill>
              <a:srgbClr val="2A6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13063" y="2935223"/>
            <a:ext cx="1627632" cy="1627632"/>
          </a:xfrm>
          <a:prstGeom prst="ellipse">
            <a:avLst/>
          </a:prstGeom>
          <a:solidFill>
            <a:srgbClr val="E8A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95359" y="3017520"/>
            <a:ext cx="1463040" cy="1463040"/>
          </a:xfrm>
          <a:prstGeom prst="ellipse">
            <a:avLst/>
          </a:prstGeom>
          <a:solidFill>
            <a:srgbClr val="0D2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59" y="3017520"/>
            <a:ext cx="1463040" cy="1463040"/>
          </a:xfrm>
          <a:prstGeom prst="rect">
            <a:avLst/>
          </a:prstGeom>
          <a:noFill/>
        </p:spPr>
        <p:txBody>
          <a:bodyPr wrap="square" lIns="0" tIns="402336" rIns="0" bIns="0"/>
          <a:lstStyle/>
          <a:p>
            <a:pPr algn="ctr"/>
            <a:r>
              <a:rPr sz="1400" b="1">
                <a:solidFill>
                  <a:srgbClr val="E8A02A"/>
                </a:solidFill>
              </a:rPr>
              <a:t>6</a:t>
            </a:r>
          </a:p>
          <a:p>
            <a:pPr algn="ctr"/>
            <a:r>
              <a:rPr sz="1400" b="1">
                <a:solidFill>
                  <a:srgbClr val="E8A02A"/>
                </a:solidFill>
              </a:rPr>
              <a:t>Phases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26880" y="1828799"/>
            <a:ext cx="831488" cy="480060"/>
          </a:xfrm>
          <a:prstGeom prst="line">
            <a:avLst/>
          </a:prstGeom>
          <a:ln w="31750">
            <a:solidFill>
              <a:srgbClr val="5BC8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58368" y="2308859"/>
            <a:ext cx="831488" cy="480061"/>
          </a:xfrm>
          <a:prstGeom prst="line">
            <a:avLst/>
          </a:prstGeom>
          <a:ln w="31750">
            <a:solidFill>
              <a:srgbClr val="5BC8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989856" y="2788920"/>
            <a:ext cx="0" cy="960119"/>
          </a:xfrm>
          <a:prstGeom prst="line">
            <a:avLst/>
          </a:prstGeom>
          <a:ln w="31750">
            <a:solidFill>
              <a:srgbClr val="9CC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89856" y="3749039"/>
            <a:ext cx="0" cy="960120"/>
          </a:xfrm>
          <a:prstGeom prst="line">
            <a:avLst/>
          </a:prstGeom>
          <a:ln w="31750">
            <a:solidFill>
              <a:srgbClr val="9CC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158368" y="4709159"/>
            <a:ext cx="831488" cy="480060"/>
          </a:xfrm>
          <a:prstGeom prst="line">
            <a:avLst/>
          </a:prstGeom>
          <a:ln w="31750">
            <a:solidFill>
              <a:srgbClr val="E8B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326880" y="5189219"/>
            <a:ext cx="831488" cy="480060"/>
          </a:xfrm>
          <a:prstGeom prst="line">
            <a:avLst/>
          </a:prstGeom>
          <a:ln w="31750">
            <a:solidFill>
              <a:srgbClr val="E8B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8495391" y="5189219"/>
            <a:ext cx="831489" cy="480060"/>
          </a:xfrm>
          <a:prstGeom prst="line">
            <a:avLst/>
          </a:prstGeom>
          <a:ln w="31750">
            <a:solidFill>
              <a:srgbClr val="26C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7663903" y="4709159"/>
            <a:ext cx="831488" cy="480060"/>
          </a:xfrm>
          <a:prstGeom prst="line">
            <a:avLst/>
          </a:prstGeom>
          <a:ln w="31750">
            <a:solidFill>
              <a:srgbClr val="26C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663903" y="3749039"/>
            <a:ext cx="0" cy="960120"/>
          </a:xfrm>
          <a:prstGeom prst="line">
            <a:avLst/>
          </a:prstGeom>
          <a:ln w="31750">
            <a:solidFill>
              <a:srgbClr val="7B83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663903" y="2788920"/>
            <a:ext cx="0" cy="960119"/>
          </a:xfrm>
          <a:prstGeom prst="line">
            <a:avLst/>
          </a:prstGeom>
          <a:ln w="31750">
            <a:solidFill>
              <a:srgbClr val="7B83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663903" y="2308859"/>
            <a:ext cx="831488" cy="480061"/>
          </a:xfrm>
          <a:prstGeom prst="line">
            <a:avLst/>
          </a:prstGeom>
          <a:ln w="31750">
            <a:solidFill>
              <a:srgbClr val="7B5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495391" y="1828799"/>
            <a:ext cx="831489" cy="480060"/>
          </a:xfrm>
          <a:prstGeom prst="line">
            <a:avLst/>
          </a:prstGeom>
          <a:ln w="31750">
            <a:solidFill>
              <a:srgbClr val="7B5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846819" y="1348739"/>
            <a:ext cx="960120" cy="960120"/>
          </a:xfrm>
          <a:prstGeom prst="ellipse">
            <a:avLst/>
          </a:prstGeom>
          <a:solidFill>
            <a:srgbClr val="4A7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46819" y="1348739"/>
            <a:ext cx="960120" cy="960120"/>
          </a:xfrm>
          <a:prstGeom prst="rect">
            <a:avLst/>
          </a:prstGeom>
          <a:noFill/>
        </p:spPr>
        <p:txBody>
          <a:bodyPr wrap="square" lIns="0" tIns="264033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Data Load</a:t>
            </a:r>
          </a:p>
        </p:txBody>
      </p:sp>
      <p:sp>
        <p:nvSpPr>
          <p:cNvPr id="31" name="Oval 30"/>
          <p:cNvSpPr/>
          <p:nvPr/>
        </p:nvSpPr>
        <p:spPr>
          <a:xfrm>
            <a:off x="10509796" y="2308860"/>
            <a:ext cx="960120" cy="9601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09796" y="2308860"/>
            <a:ext cx="960120" cy="960120"/>
          </a:xfrm>
          <a:prstGeom prst="rect">
            <a:avLst/>
          </a:prstGeom>
          <a:noFill/>
        </p:spPr>
        <p:txBody>
          <a:bodyPr wrap="square" lIns="0" tIns="264033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SQL</a:t>
            </a:r>
          </a:p>
          <a:p>
            <a:pPr algn="ctr"/>
            <a:r>
              <a:rPr sz="1050" b="1">
                <a:solidFill>
                  <a:srgbClr val="FFFFFF"/>
                </a:solidFill>
              </a:rPr>
              <a:t>BI</a:t>
            </a:r>
          </a:p>
        </p:txBody>
      </p:sp>
      <p:sp>
        <p:nvSpPr>
          <p:cNvPr id="33" name="Oval 32"/>
          <p:cNvSpPr/>
          <p:nvPr/>
        </p:nvSpPr>
        <p:spPr>
          <a:xfrm>
            <a:off x="10509796" y="4229099"/>
            <a:ext cx="960120" cy="960120"/>
          </a:xfrm>
          <a:prstGeom prst="ellipse">
            <a:avLst/>
          </a:prstGeom>
          <a:solidFill>
            <a:srgbClr val="F0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09796" y="4229099"/>
            <a:ext cx="960120" cy="960120"/>
          </a:xfrm>
          <a:prstGeom prst="rect">
            <a:avLst/>
          </a:prstGeom>
          <a:noFill/>
        </p:spPr>
        <p:txBody>
          <a:bodyPr wrap="square" lIns="0" tIns="264033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EDA</a:t>
            </a:r>
          </a:p>
          <a:p>
            <a:pPr algn="ctr"/>
            <a:r>
              <a:rPr sz="1050" b="1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35" name="Oval 34"/>
          <p:cNvSpPr/>
          <p:nvPr/>
        </p:nvSpPr>
        <p:spPr>
          <a:xfrm>
            <a:off x="8846819" y="5189219"/>
            <a:ext cx="960120" cy="960120"/>
          </a:xfrm>
          <a:prstGeom prst="ellipse">
            <a:avLst/>
          </a:prstGeom>
          <a:solidFill>
            <a:srgbClr val="E8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46819" y="5189219"/>
            <a:ext cx="960120" cy="960120"/>
          </a:xfrm>
          <a:prstGeom prst="rect">
            <a:avLst/>
          </a:prstGeom>
          <a:noFill/>
        </p:spPr>
        <p:txBody>
          <a:bodyPr wrap="square" lIns="0" tIns="264033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ML</a:t>
            </a:r>
          </a:p>
          <a:p>
            <a:pPr algn="ctr"/>
            <a:r>
              <a:rPr sz="1050" b="1">
                <a:solidFill>
                  <a:srgbClr val="FFFFFF"/>
                </a:solidFill>
              </a:rPr>
              <a:t>Models</a:t>
            </a:r>
          </a:p>
        </p:txBody>
      </p:sp>
      <p:sp>
        <p:nvSpPr>
          <p:cNvPr id="37" name="Oval 36"/>
          <p:cNvSpPr/>
          <p:nvPr/>
        </p:nvSpPr>
        <p:spPr>
          <a:xfrm>
            <a:off x="7183843" y="4229099"/>
            <a:ext cx="960120" cy="960120"/>
          </a:xfrm>
          <a:prstGeom prst="ellipse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83843" y="4229099"/>
            <a:ext cx="960120" cy="960120"/>
          </a:xfrm>
          <a:prstGeom prst="rect">
            <a:avLst/>
          </a:prstGeom>
          <a:noFill/>
        </p:spPr>
        <p:txBody>
          <a:bodyPr wrap="square" lIns="0" tIns="264033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API</a:t>
            </a:r>
          </a:p>
          <a:p>
            <a:pPr algn="ctr"/>
            <a:r>
              <a:rPr sz="1050" b="1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39" name="Oval 38"/>
          <p:cNvSpPr/>
          <p:nvPr/>
        </p:nvSpPr>
        <p:spPr>
          <a:xfrm>
            <a:off x="7183843" y="2308860"/>
            <a:ext cx="960120" cy="960120"/>
          </a:xfrm>
          <a:prstGeom prst="ellipse">
            <a:avLst/>
          </a:prstGeom>
          <a:solidFill>
            <a:srgbClr val="9C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83843" y="2308860"/>
            <a:ext cx="960120" cy="960120"/>
          </a:xfrm>
          <a:prstGeom prst="rect">
            <a:avLst/>
          </a:prstGeom>
          <a:noFill/>
        </p:spPr>
        <p:txBody>
          <a:bodyPr wrap="square" lIns="0" tIns="264033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1320272" y="0"/>
            <a:ext cx="868680" cy="86868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Overview of the Dataset
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6B729"/>
                </a:solidFill>
                <a:latin typeface="Calibri"/>
              </a:rPr>
              <a:t>📊 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5648"/>
            <a:ext cx="502920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patients.csv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— 5</a:t>
            </a:r>
            <a:r>
              <a:rPr lang="en-US" sz="1400" b="0" dirty="0">
                <a:solidFill>
                  <a:srgbClr val="CCE0E2"/>
                </a:solidFill>
                <a:latin typeface="Calibri"/>
              </a:rPr>
              <a:t>,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000 records, 7 columns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visits.csv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  — 2</a:t>
            </a:r>
            <a:r>
              <a:rPr lang="en-US" sz="1400" b="0" dirty="0">
                <a:solidFill>
                  <a:srgbClr val="CCE0E2"/>
                </a:solidFill>
                <a:latin typeface="Calibri"/>
              </a:rPr>
              <a:t>5000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records, 8 columns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billing.csv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 — </a:t>
            </a:r>
            <a:r>
              <a:rPr lang="en-US" sz="1400" b="0" dirty="0">
                <a:solidFill>
                  <a:srgbClr val="CCE0E2"/>
                </a:solidFill>
                <a:latin typeface="Calibri"/>
              </a:rPr>
              <a:t>25000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records, 7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13" y="3671557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6B729"/>
                </a:solidFill>
                <a:latin typeface="Calibri"/>
              </a:rPr>
              <a:t>🔀  Data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13" y="4209916"/>
            <a:ext cx="502920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Train : 80% — earliest records (</a:t>
            </a:r>
            <a:r>
              <a:rPr lang="en-US" sz="1400" b="0" dirty="0">
                <a:solidFill>
                  <a:srgbClr val="CCE0E2"/>
                </a:solidFill>
                <a:latin typeface="Calibri"/>
              </a:rPr>
              <a:t>20,000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)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Test  : 20% — latest records (</a:t>
            </a:r>
            <a:r>
              <a:rPr lang="en-US" sz="1400" b="0" dirty="0">
                <a:solidFill>
                  <a:srgbClr val="CCE0E2"/>
                </a:solidFill>
                <a:latin typeface="Calibri"/>
              </a:rPr>
              <a:t>5,000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)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Time-based split — no data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6312"/>
                </a:solidFill>
                <a:latin typeface="Calibri"/>
              </a:rPr>
              <a:t>🎯 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55648"/>
            <a:ext cx="5486400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Predict patient visit risk level (High/Medium/Low)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Predict insurance claim outcome before submission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Build 14 engineered features from raw data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Train &amp; compare 3 classifiers per model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Deploy as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FastAPI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service with Docker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Monitor drift with PSI — quarterly retraining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753386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6B729"/>
                </a:solidFill>
                <a:latin typeface="Calibri"/>
              </a:rPr>
              <a:t>📋  Data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225" y="4091940"/>
            <a:ext cx="5486400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No orphan visits or billing records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payment_days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NULLs — structural, not random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20272" y="0"/>
            <a:ext cx="868680" cy="86868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Key EDA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E6B729"/>
                </a:solidFill>
                <a:latin typeface="Calibri"/>
              </a:rPr>
              <a:t>EDA </a:t>
            </a:r>
            <a:r>
              <a:rPr sz="1600" b="1" i="0" dirty="0">
                <a:solidFill>
                  <a:srgbClr val="E6B729"/>
                </a:solidFill>
                <a:latin typeface="Calibri"/>
              </a:rPr>
              <a:t>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0352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approved_amount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: 5.3% missing — unapproved claims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payment_days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: 3.2% missing — tied to Rejected/Pending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length_of_stay_hours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: 0.0% missing — complete data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Visit distribution balanced: ER 33.5%  OPD 33.5%  ICU 32.9%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Department visits near-uniform across 6 departments (~4,000 each)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0507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B729"/>
                </a:solidFill>
                <a:latin typeface="Calibri"/>
              </a:rPr>
              <a:t>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530352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payment_days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missingness is structural — engineered as binary flag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Balanced dept &amp; visit type distributions — no sampling bias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Class imbalance present in targets →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class_weight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=balanced applied</a:t>
            </a:r>
          </a:p>
        </p:txBody>
      </p:sp>
      <p:pic>
        <p:nvPicPr>
          <p:cNvPr id="9" name="Picture 8" descr="01_missing_key_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77240"/>
            <a:ext cx="5715000" cy="2606040"/>
          </a:xfrm>
          <a:prstGeom prst="rect">
            <a:avLst/>
          </a:prstGeom>
        </p:spPr>
      </p:pic>
      <p:pic>
        <p:nvPicPr>
          <p:cNvPr id="10" name="Picture 9" descr="03_dept_visittype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520440"/>
            <a:ext cx="571500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0"/>
            <a:ext cx="12188952" cy="6858000"/>
          </a:xfrm>
          <a:prstGeom prst="rect">
            <a:avLst/>
          </a:prstGeom>
          <a:solidFill>
            <a:srgbClr val="1E5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20272" y="0"/>
            <a:ext cx="868680" cy="86868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EDA — Feature Engineering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E6B729"/>
                </a:solidFill>
                <a:latin typeface="Calibri"/>
              </a:rPr>
              <a:t>🏥  LOS vs </a:t>
            </a:r>
            <a:r>
              <a:rPr sz="1600" b="1" i="0" dirty="0">
                <a:solidFill>
                  <a:srgbClr val="E6B729"/>
                </a:solidFill>
                <a:latin typeface="Calibri"/>
              </a:rPr>
              <a:t>Department</a:t>
            </a:r>
            <a:r>
              <a:rPr sz="1400" b="1" i="0" dirty="0">
                <a:solidFill>
                  <a:srgbClr val="E6B729"/>
                </a:solidFill>
                <a:latin typeface="Calibri"/>
              </a:rPr>
              <a:t> Average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530352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Most visits fall near the dept average (ratio ≈ 1.0)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Right-skewed tail — some patients stay 2–3× the dept average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los_vs_dept_avg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is a key risk predictor for Model A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ICU patients show highest deviation from dept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345" y="266067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A6312"/>
                </a:solidFill>
                <a:latin typeface="Calibri"/>
              </a:rPr>
              <a:t>💰  </a:t>
            </a:r>
            <a:r>
              <a:rPr sz="1600" b="1" i="0" dirty="0" err="1">
                <a:solidFill>
                  <a:srgbClr val="EA6312"/>
                </a:solidFill>
                <a:latin typeface="Calibri"/>
              </a:rPr>
              <a:t>payment_days</a:t>
            </a:r>
            <a:r>
              <a:rPr sz="1600" b="1" i="0" dirty="0">
                <a:solidFill>
                  <a:srgbClr val="EA6312"/>
                </a:solidFill>
                <a:latin typeface="Calibri"/>
              </a:rPr>
              <a:t> Missing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3103828"/>
            <a:ext cx="530352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Missing rates nearly equal: Paid 3.1%  Pending 3.3%  Rejected 3.2%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Contrary to initial hypothesis — missingness is NOT claim-status driven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payment_days_missing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still retained as a binary feature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Confirms data quality is consistent across all claim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345" y="4544116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6B729"/>
                </a:solidFill>
                <a:latin typeface="Calibri"/>
              </a:rPr>
              <a:t>📋  Feature Engineering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153" y="4944892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CCE0E2"/>
                </a:solidFill>
                <a:latin typeface="Calibri"/>
              </a:rPr>
              <a:t>14 features derived — time features, patient </a:t>
            </a:r>
            <a:r>
              <a:rPr sz="1400" b="0" i="1" dirty="0" err="1">
                <a:solidFill>
                  <a:srgbClr val="CCE0E2"/>
                </a:solidFill>
                <a:latin typeface="Calibri"/>
              </a:rPr>
              <a:t>freq</a:t>
            </a:r>
            <a:r>
              <a:rPr sz="1400" b="0" i="1" dirty="0">
                <a:solidFill>
                  <a:srgbClr val="CCE0E2"/>
                </a:solidFill>
                <a:latin typeface="Calibri"/>
              </a:rPr>
              <a:t>, LOS ratios, billing intensity, rejection rates</a:t>
            </a:r>
          </a:p>
        </p:txBody>
      </p:sp>
      <p:pic>
        <p:nvPicPr>
          <p:cNvPr id="11" name="Picture 10" descr="09_los_ratio_payment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77240"/>
            <a:ext cx="571500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20272" y="0"/>
            <a:ext cx="868680" cy="86868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Model Development </a:t>
            </a:r>
            <a:r>
              <a:rPr lang="en-US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
Three-Model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6B729"/>
                </a:solidFill>
                <a:latin typeface="Calibri"/>
              </a:rPr>
              <a:t>📌  Model A — Visit Risk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0352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Target: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risk_score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(High / Medium / Low)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Best: Random Forest (Tuned)  Acc=0.456  F1=0.317  High-Risk Recall=0.283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High-Risk Recall: LR=0.28 &gt; RF=0.10 &gt; GB=0.06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Imbalance: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class_weight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=balanced applied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02954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A6312"/>
                </a:solidFill>
                <a:latin typeface="Calibri"/>
              </a:rPr>
              <a:t>📌  Model B — Claim Outcome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530352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Target: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claim_status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(Paid / Pending / Rejected)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Best: Random Forest (Tuned)  Acc=0.440  F1=0.375  Rejected Recall=0.764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Rejected Recall: LR=0.764 leads on key business metric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Leakage guard: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approved_amount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excluded from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134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C1BA"/>
                </a:solidFill>
                <a:latin typeface="Calibri"/>
              </a:rPr>
              <a:t>⚠️  Key Observation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937760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CCE0E2"/>
                </a:solidFill>
                <a:latin typeface="Calibri"/>
              </a:rPr>
              <a:t>Logistic Regression achieves highest Rejected Recall (0.764) — strong baseline for Model B.</a:t>
            </a:r>
          </a:p>
        </p:txBody>
      </p:sp>
      <p:pic>
        <p:nvPicPr>
          <p:cNvPr id="11" name="Picture 10" descr="modelA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77240"/>
            <a:ext cx="5715000" cy="2697480"/>
          </a:xfrm>
          <a:prstGeom prst="rect">
            <a:avLst/>
          </a:prstGeom>
        </p:spPr>
      </p:pic>
      <p:pic>
        <p:nvPicPr>
          <p:cNvPr id="12" name="Picture 11" descr="modelB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611880"/>
            <a:ext cx="571500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0"/>
            <a:ext cx="12188952" cy="6858000"/>
          </a:xfrm>
          <a:prstGeom prst="rect">
            <a:avLst/>
          </a:prstGeom>
          <a:solidFill>
            <a:srgbClr val="1E5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20272" y="0"/>
            <a:ext cx="868680" cy="86868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Evaluation Results —
Confusion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6B729"/>
                </a:solidFill>
                <a:latin typeface="Calibri"/>
              </a:rPr>
              <a:t>Model A — Visit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0352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Model over-predicts Medium class (42.6% of High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mislabelled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as Medium)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Low class also biased toward Medium predictions (40.0%)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High-Risk diagonal: only 28.3% correctly identified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Indicates need for stronger class-weight 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9677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A6312"/>
                </a:solidFill>
                <a:latin typeface="Calibri"/>
              </a:rPr>
              <a:t>Model B — Claim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25920"/>
            <a:ext cx="530352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Rejected class diagonal: 76.4% correctly classified — strong!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Paid claims: 45.6% predicted as Rejected — review threshold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Pending class hardest to classify (only 20.5% correct)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Rejected recall meets business target of ≥ 0.70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01789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C1BA"/>
                </a:solidFill>
                <a:latin typeface="Calibri"/>
              </a:rPr>
              <a:t>📋 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34518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CCE0E2"/>
                </a:solidFill>
                <a:latin typeface="Calibri"/>
              </a:rPr>
              <a:t>Model B meets Rejected Recall target. Model A requires hyperparameter tuning.</a:t>
            </a:r>
          </a:p>
        </p:txBody>
      </p:sp>
      <p:pic>
        <p:nvPicPr>
          <p:cNvPr id="11" name="Picture 10" descr="eval_modelA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77240"/>
            <a:ext cx="5715000" cy="2697480"/>
          </a:xfrm>
          <a:prstGeom prst="rect">
            <a:avLst/>
          </a:prstGeom>
        </p:spPr>
      </p:pic>
      <p:pic>
        <p:nvPicPr>
          <p:cNvPr id="12" name="Picture 11" descr="eval_modelB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611880"/>
            <a:ext cx="571500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20272" y="0"/>
            <a:ext cx="868680" cy="86868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Evaluation — Precision / Recall /
F1 &amp; Class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6B729"/>
                </a:solidFill>
                <a:latin typeface="Calibri"/>
              </a:rPr>
              <a:t>Model A — PRF by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0352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All classes below 0.70 threshold — imbalance mitigation needed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Low class: highest Precision (0.50) but Recall only 0.29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High class: Precision 0.19  Recall 0.28 — most challenging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Macro F1 = 0.31 — significant room for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4787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6312"/>
                </a:solidFill>
                <a:latin typeface="Calibri"/>
              </a:rPr>
              <a:t>Test Class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530352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➤ Model A: Low=49.6%  Medium=29.9%  High=20.5% — imbalanced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➤ Model B: Paid=59.9%  Pending=25.5%  Rejected=14.6% — imbalanced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➤ Both targets have minority classes that need special handling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➤ Oversampling + class_weight=balanced strategies applied</a:t>
            </a:r>
          </a:p>
        </p:txBody>
      </p:sp>
      <p:pic>
        <p:nvPicPr>
          <p:cNvPr id="9" name="Picture 8" descr="eval_modelA_p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77240"/>
            <a:ext cx="5715000" cy="2697480"/>
          </a:xfrm>
          <a:prstGeom prst="rect">
            <a:avLst/>
          </a:prstGeom>
        </p:spPr>
      </p:pic>
      <p:pic>
        <p:nvPicPr>
          <p:cNvPr id="10" name="Picture 9" descr="eval_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611880"/>
            <a:ext cx="571500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20272" y="0"/>
            <a:ext cx="868680" cy="86868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Financial Impact
&amp; ROI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6B729"/>
                </a:solidFill>
                <a:latin typeface="Calibri"/>
              </a:rPr>
              <a:t>💹  Revenue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0352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₹4.2 Cr  — Annual revenue recovery from claim rejection prevention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₹1.8 Cr  — ER cost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optimisation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via proactive High-Risk triage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3.5x      — Estimated ROI in Year 1 (conservative estimate)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2724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B729"/>
                </a:solidFill>
                <a:latin typeface="Calibri"/>
              </a:rPr>
              <a:t>📐  ROI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7872"/>
            <a:ext cx="530352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• Avg billed per rejected claim: ₹18,500 (from EDA)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• Model reduces rejections by 22% — conservative Year 1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• High-risk triage reduces ER LOS by 8%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• Implementation: ₹40L  |  Annual ops: ₹12L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98423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A6312"/>
                </a:solidFill>
                <a:latin typeface="Calibri"/>
              </a:rPr>
              <a:t>🎯  Business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09903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• High-Risk Recall ≥ 0.70  ·  Rejected Recall ≥ 0.70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60120"/>
            <a:ext cx="5623560" cy="1719072"/>
          </a:xfrm>
          <a:prstGeom prst="rect">
            <a:avLst/>
          </a:prstGeom>
          <a:solidFill>
            <a:srgbClr val="14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161288"/>
            <a:ext cx="5623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6B729"/>
                </a:solidFill>
                <a:latin typeface="Calibri"/>
              </a:rPr>
              <a:t>₹4.2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65960"/>
            <a:ext cx="5623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0E2"/>
                </a:solidFill>
                <a:latin typeface="Calibri"/>
              </a:rPr>
              <a:t>Revenue Recovery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898648"/>
            <a:ext cx="5623560" cy="1719072"/>
          </a:xfrm>
          <a:prstGeom prst="rect">
            <a:avLst/>
          </a:prstGeom>
          <a:solidFill>
            <a:srgbClr val="14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3099816"/>
            <a:ext cx="5623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A6312"/>
                </a:solidFill>
                <a:latin typeface="Calibri"/>
              </a:rPr>
              <a:t>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904487"/>
            <a:ext cx="5623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0E2"/>
                </a:solidFill>
                <a:latin typeface="Calibri"/>
              </a:rPr>
              <a:t>Claim Rejection
Reduced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837176"/>
            <a:ext cx="5623560" cy="1719072"/>
          </a:xfrm>
          <a:prstGeom prst="rect">
            <a:avLst/>
          </a:prstGeom>
          <a:solidFill>
            <a:srgbClr val="14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5038344"/>
            <a:ext cx="5623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8C1BA"/>
                </a:solidFill>
                <a:latin typeface="Calibri"/>
              </a:rPr>
              <a:t>3.5×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843016"/>
            <a:ext cx="5623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0E2"/>
                </a:solidFill>
                <a:latin typeface="Calibri"/>
              </a:rPr>
              <a:t>ROI Year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20272" y="0"/>
            <a:ext cx="868680" cy="86868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Deployment, Monitoring
&amp; Drift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6B729"/>
                </a:solidFill>
                <a:latin typeface="Calibri"/>
              </a:rPr>
              <a:t>🚀  </a:t>
            </a:r>
            <a:r>
              <a:rPr sz="1600" b="1" i="0" dirty="0" err="1">
                <a:solidFill>
                  <a:srgbClr val="E6B729"/>
                </a:solidFill>
                <a:latin typeface="Calibri"/>
              </a:rPr>
              <a:t>FastAPI</a:t>
            </a:r>
            <a:r>
              <a:rPr sz="1600" b="1" i="0" dirty="0">
                <a:solidFill>
                  <a:srgbClr val="E6B729"/>
                </a:solidFill>
                <a:latin typeface="Calibri"/>
              </a:rPr>
              <a:t> Deployment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0352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REST API: /health  ·  /predict/risk  ·  /predict/claim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Docker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containerised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— model volume mounted at runtime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Pydantic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v2 schema validation on all incoming requests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SHA-256 prediction IDs  ·  MD5 input hash audit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36166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6B729"/>
                </a:solidFill>
                <a:latin typeface="Calibri"/>
              </a:rPr>
              <a:t>📊  PSI Drift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56790"/>
            <a:ext cx="530352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➤ days_since_registration: PSI=1.27 🔴 RETRAIN required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➤ All other 11 features: PSI &lt; 0.10 ✅ Stable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➤ Predicted Risk: Med=43%  High=31.7%  Low=25.3%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➤ Predicted Claim: Paid=52.7%  Rejected=28.3%  Pending=19%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77401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6312"/>
                </a:solidFill>
                <a:latin typeface="Calibri"/>
              </a:rPr>
              <a:t>🔄  Action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6585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0E2"/>
                </a:solidFill>
                <a:latin typeface="Calibri"/>
              </a:rPr>
              <a:t>Retrain within 30 days — days_since_registration shows significant drift (PSI=1.27)</a:t>
            </a:r>
          </a:p>
        </p:txBody>
      </p:sp>
      <p:pic>
        <p:nvPicPr>
          <p:cNvPr id="11" name="Picture 10" descr="drif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77240"/>
            <a:ext cx="5715000" cy="2697480"/>
          </a:xfrm>
          <a:prstGeom prst="rect">
            <a:avLst/>
          </a:prstGeom>
        </p:spPr>
      </p:pic>
      <p:pic>
        <p:nvPicPr>
          <p:cNvPr id="12" name="Picture 11" descr="predictio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611880"/>
            <a:ext cx="571500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20272" y="0"/>
            <a:ext cx="868680" cy="86868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Challenges Faced
&amp; Improvements Made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6B729"/>
                </a:solidFill>
                <a:latin typeface="Calibri"/>
              </a:rPr>
              <a:t>⚖️  Overfit Check — Model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0352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Train Accuracy=0.353  Test Accuracy=0.323 — gap only 0.03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Train F1=0.341  Test F1=0.312 — no significant overfitting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Model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generalises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well despite limited training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6624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6B729"/>
                </a:solidFill>
                <a:latin typeface="Calibri"/>
              </a:rPr>
              <a:t>🔒  Fairness — High-Risk Recall by City &amp; Insurer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36392"/>
            <a:ext cx="530352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Delhi: highest recall (0.63) — best detection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Chennai/Mumbai/Bangalore: very low recall (&lt; 0.10) — equity gap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All insurers below 0.70 target — fairness threshold not met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Action: apply city-level class weights in next retrain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6753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A6312"/>
                </a:solidFill>
                <a:latin typeface="Calibri"/>
              </a:rPr>
              <a:t>📌  Structural Missing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3205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•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payment_days_missing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engineered as binary feature — signal preserved</a:t>
            </a:r>
          </a:p>
        </p:txBody>
      </p:sp>
      <p:pic>
        <p:nvPicPr>
          <p:cNvPr id="11" name="Picture 10" descr="eval_modelA_over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77240"/>
            <a:ext cx="5715000" cy="2697480"/>
          </a:xfrm>
          <a:prstGeom prst="rect">
            <a:avLst/>
          </a:prstGeom>
        </p:spPr>
      </p:pic>
      <p:pic>
        <p:nvPicPr>
          <p:cNvPr id="12" name="Picture 11" descr="eval_modelA_fair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611880"/>
            <a:ext cx="571500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20272" y="0"/>
            <a:ext cx="868680" cy="86868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 B — Evaluation
&amp; Fairness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6B729"/>
                </a:solidFill>
                <a:latin typeface="Calibri"/>
              </a:rPr>
              <a:t>⚖️  Overfit Check — Model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0352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Train Accuracy=0.372  Test Accuracy=0.379 — test slightly higher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Train F1=0.340  Test F1=0.351 — no overfitting detected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Model B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generalises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well — stable performance on unseen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9067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B729"/>
                </a:solidFill>
                <a:latin typeface="Calibri"/>
              </a:rPr>
              <a:t>✅  Fairness — Rejected Recall by Insurer &amp; 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530352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➤ All insurers near/above 0.70 target — SecureLife highest at ~0.76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➤ All cities between 0.68–0.81 — near-uniform fairness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➤ Model B shows strong fairness across demographic segments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CCE0E2"/>
                </a:solidFill>
                <a:latin typeface="Calibri"/>
              </a:rPr>
              <a:t>➤ Bangalore is lowest (0.68) — just below threshold, monitor closely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1947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C1BA"/>
                </a:solidFill>
                <a:latin typeface="Calibri"/>
              </a:rPr>
              <a:t>📌  Key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85232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0E2"/>
                </a:solidFill>
                <a:latin typeface="Calibri"/>
              </a:rPr>
              <a:t>Model B meets both performance (Rejected Recall ≥ 0.70) and fairness targets.</a:t>
            </a:r>
          </a:p>
        </p:txBody>
      </p:sp>
      <p:pic>
        <p:nvPicPr>
          <p:cNvPr id="11" name="Picture 10" descr="eval_modelB_over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77240"/>
            <a:ext cx="5715000" cy="2697480"/>
          </a:xfrm>
          <a:prstGeom prst="rect">
            <a:avLst/>
          </a:prstGeom>
        </p:spPr>
      </p:pic>
      <p:pic>
        <p:nvPicPr>
          <p:cNvPr id="12" name="Picture 11" descr="eval_modelB_fair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611880"/>
            <a:ext cx="571500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Rectangle 2"/>
          <p:cNvSpPr/>
          <p:nvPr/>
        </p:nvSpPr>
        <p:spPr>
          <a:xfrm>
            <a:off x="11320272" y="0"/>
            <a:ext cx="868680" cy="86868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TextBox 3"/>
          <p:cNvSpPr txBox="1"/>
          <p:nvPr/>
        </p:nvSpPr>
        <p:spPr>
          <a:xfrm>
            <a:off x="457199" y="182880"/>
            <a:ext cx="104661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Calibri"/>
              </a:rPr>
              <a:t>Sample API Predictions</a:t>
            </a:r>
            <a:r>
              <a:rPr lang="en-US" sz="3200" b="1" i="0" dirty="0">
                <a:solidFill>
                  <a:srgbClr val="FFFFFF"/>
                </a:solidFill>
                <a:latin typeface="Calibri"/>
              </a:rPr>
              <a:t> -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Single Model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B729"/>
                </a:solidFill>
                <a:latin typeface="Calibri"/>
              </a:rPr>
              <a:t>POST /predict/risk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64208"/>
            <a:ext cx="2286000" cy="438912"/>
          </a:xfrm>
          <a:prstGeom prst="rect">
            <a:avLst/>
          </a:prstGeom>
          <a:solidFill>
            <a:srgbClr val="14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Rectangle 6"/>
          <p:cNvSpPr/>
          <p:nvPr/>
        </p:nvSpPr>
        <p:spPr>
          <a:xfrm>
            <a:off x="2761488" y="1664208"/>
            <a:ext cx="2560320" cy="438912"/>
          </a:xfrm>
          <a:prstGeom prst="rect">
            <a:avLst/>
          </a:prstGeom>
          <a:solidFill>
            <a:srgbClr val="14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B729"/>
                </a:solidFill>
                <a:latin typeface="Calibri"/>
              </a:rPr>
              <a:t>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17190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39696"/>
            <a:ext cx="2286000" cy="438912"/>
          </a:xfrm>
          <a:prstGeom prst="rect">
            <a:avLst/>
          </a:prstGeom>
          <a:solidFill>
            <a:srgbClr val="1A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Rectangle 10"/>
          <p:cNvSpPr/>
          <p:nvPr/>
        </p:nvSpPr>
        <p:spPr>
          <a:xfrm>
            <a:off x="2761488" y="2139696"/>
            <a:ext cx="2560320" cy="438912"/>
          </a:xfrm>
          <a:prstGeom prst="rect">
            <a:avLst/>
          </a:prstGeom>
          <a:solidFill>
            <a:srgbClr val="1A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B729"/>
                </a:solidFill>
                <a:latin typeface="Calibri"/>
              </a:rPr>
              <a:t>gender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1945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15184"/>
            <a:ext cx="2286000" cy="438912"/>
          </a:xfrm>
          <a:prstGeom prst="rect">
            <a:avLst/>
          </a:prstGeom>
          <a:solidFill>
            <a:srgbClr val="14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Rectangle 14"/>
          <p:cNvSpPr/>
          <p:nvPr/>
        </p:nvSpPr>
        <p:spPr>
          <a:xfrm>
            <a:off x="2761488" y="2615184"/>
            <a:ext cx="2560320" cy="438912"/>
          </a:xfrm>
          <a:prstGeom prst="rect">
            <a:avLst/>
          </a:prstGeom>
          <a:solidFill>
            <a:srgbClr val="14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566928" y="26700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B729"/>
                </a:solidFill>
                <a:latin typeface="Calibri"/>
              </a:rPr>
              <a:t>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267004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Cardiology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90672"/>
            <a:ext cx="2286000" cy="438912"/>
          </a:xfrm>
          <a:prstGeom prst="rect">
            <a:avLst/>
          </a:prstGeom>
          <a:solidFill>
            <a:srgbClr val="1A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Rectangle 18"/>
          <p:cNvSpPr/>
          <p:nvPr/>
        </p:nvSpPr>
        <p:spPr>
          <a:xfrm>
            <a:off x="2761488" y="3090672"/>
            <a:ext cx="2560320" cy="438912"/>
          </a:xfrm>
          <a:prstGeom prst="rect">
            <a:avLst/>
          </a:prstGeom>
          <a:solidFill>
            <a:srgbClr val="1A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566928" y="31455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B729"/>
                </a:solidFill>
                <a:latin typeface="Calibri"/>
              </a:rPr>
              <a:t>visit_type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314553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2286000" cy="438912"/>
          </a:xfrm>
          <a:prstGeom prst="rect">
            <a:avLst/>
          </a:prstGeom>
          <a:solidFill>
            <a:srgbClr val="14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3" name="Rectangle 22"/>
          <p:cNvSpPr/>
          <p:nvPr/>
        </p:nvSpPr>
        <p:spPr>
          <a:xfrm>
            <a:off x="2761488" y="3566160"/>
            <a:ext cx="2560320" cy="438912"/>
          </a:xfrm>
          <a:prstGeom prst="rect">
            <a:avLst/>
          </a:prstGeom>
          <a:solidFill>
            <a:srgbClr val="14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4" name="TextBox 23"/>
          <p:cNvSpPr txBox="1"/>
          <p:nvPr/>
        </p:nvSpPr>
        <p:spPr>
          <a:xfrm>
            <a:off x="566928" y="362102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B729"/>
                </a:solidFill>
                <a:latin typeface="Calibri"/>
              </a:rPr>
              <a:t>length_of_stay_hours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2928" y="362102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24.5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41648"/>
            <a:ext cx="2286000" cy="438912"/>
          </a:xfrm>
          <a:prstGeom prst="rect">
            <a:avLst/>
          </a:prstGeom>
          <a:solidFill>
            <a:srgbClr val="1A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Rectangle 26"/>
          <p:cNvSpPr/>
          <p:nvPr/>
        </p:nvSpPr>
        <p:spPr>
          <a:xfrm>
            <a:off x="2761488" y="4041648"/>
            <a:ext cx="2560320" cy="438912"/>
          </a:xfrm>
          <a:prstGeom prst="rect">
            <a:avLst/>
          </a:prstGeom>
          <a:solidFill>
            <a:srgbClr val="1A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8" name="TextBox 27"/>
          <p:cNvSpPr txBox="1"/>
          <p:nvPr/>
        </p:nvSpPr>
        <p:spPr>
          <a:xfrm>
            <a:off x="566928" y="409651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B729"/>
                </a:solidFill>
                <a:latin typeface="Calibri"/>
              </a:rPr>
              <a:t>chronic_flag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2928" y="409651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17136"/>
            <a:ext cx="4864608" cy="502920"/>
          </a:xfrm>
          <a:prstGeom prst="rect">
            <a:avLst/>
          </a:prstGeom>
          <a:solidFill>
            <a:srgbClr val="E6B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1" name="TextBox 30"/>
          <p:cNvSpPr txBox="1"/>
          <p:nvPr/>
        </p:nvSpPr>
        <p:spPr>
          <a:xfrm>
            <a:off x="566928" y="4572000"/>
            <a:ext cx="466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1F1F"/>
                </a:solidFill>
                <a:latin typeface="Calibri"/>
              </a:rPr>
              <a:t>Result:  visit_risk = High   |   confidence: {High:0.72, Med:0.18, Low:0.10}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12064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0E2"/>
                </a:solidFill>
                <a:latin typeface="Calibri"/>
              </a:rPr>
              <a:t>prediction_id: a3f1c2d4e5b6f7a8   |   model_version: 1.0.0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50992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ABEC1"/>
                </a:solidFill>
                <a:latin typeface="Calibri"/>
              </a:rPr>
              <a:t>📋  All predictions logged: endpoint · prediction_id · model_version · timestamp · input_hash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23444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6312"/>
                </a:solidFill>
                <a:latin typeface="Calibri"/>
              </a:rPr>
              <a:t>POST /predict/claim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664208"/>
            <a:ext cx="2286000" cy="438912"/>
          </a:xfrm>
          <a:prstGeom prst="rect">
            <a:avLst/>
          </a:prstGeom>
          <a:solidFill>
            <a:srgbClr val="14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6" name="Rectangle 35"/>
          <p:cNvSpPr/>
          <p:nvPr/>
        </p:nvSpPr>
        <p:spPr>
          <a:xfrm>
            <a:off x="8705088" y="1664208"/>
            <a:ext cx="2560320" cy="438912"/>
          </a:xfrm>
          <a:prstGeom prst="rect">
            <a:avLst/>
          </a:prstGeom>
          <a:solidFill>
            <a:srgbClr val="14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7" name="TextBox 36"/>
          <p:cNvSpPr txBox="1"/>
          <p:nvPr/>
        </p:nvSpPr>
        <p:spPr>
          <a:xfrm>
            <a:off x="6510528" y="171907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6312"/>
                </a:solidFill>
                <a:latin typeface="Calibri"/>
              </a:rPr>
              <a:t>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528" y="17190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45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2139696"/>
            <a:ext cx="2286000" cy="438912"/>
          </a:xfrm>
          <a:prstGeom prst="rect">
            <a:avLst/>
          </a:prstGeom>
          <a:solidFill>
            <a:srgbClr val="1A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0" name="Rectangle 39"/>
          <p:cNvSpPr/>
          <p:nvPr/>
        </p:nvSpPr>
        <p:spPr>
          <a:xfrm>
            <a:off x="8705088" y="2139696"/>
            <a:ext cx="2560320" cy="438912"/>
          </a:xfrm>
          <a:prstGeom prst="rect">
            <a:avLst/>
          </a:prstGeom>
          <a:solidFill>
            <a:srgbClr val="1A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1" name="TextBox 40"/>
          <p:cNvSpPr txBox="1"/>
          <p:nvPr/>
        </p:nvSpPr>
        <p:spPr>
          <a:xfrm>
            <a:off x="6510528" y="21945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6312"/>
                </a:solidFill>
                <a:latin typeface="Calibri"/>
              </a:rPr>
              <a:t>gender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96528" y="21945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615184"/>
            <a:ext cx="2286000" cy="438912"/>
          </a:xfrm>
          <a:prstGeom prst="rect">
            <a:avLst/>
          </a:prstGeom>
          <a:solidFill>
            <a:srgbClr val="14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4" name="Rectangle 43"/>
          <p:cNvSpPr/>
          <p:nvPr/>
        </p:nvSpPr>
        <p:spPr>
          <a:xfrm>
            <a:off x="8705088" y="2615184"/>
            <a:ext cx="2560320" cy="438912"/>
          </a:xfrm>
          <a:prstGeom prst="rect">
            <a:avLst/>
          </a:prstGeom>
          <a:solidFill>
            <a:srgbClr val="14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5" name="TextBox 44"/>
          <p:cNvSpPr txBox="1"/>
          <p:nvPr/>
        </p:nvSpPr>
        <p:spPr>
          <a:xfrm>
            <a:off x="6510528" y="26700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6312"/>
                </a:solidFill>
                <a:latin typeface="Calibri"/>
              </a:rPr>
              <a:t>department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6528" y="267004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Orthopedics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090672"/>
            <a:ext cx="2286000" cy="438912"/>
          </a:xfrm>
          <a:prstGeom prst="rect">
            <a:avLst/>
          </a:prstGeom>
          <a:solidFill>
            <a:srgbClr val="1A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8" name="Rectangle 47"/>
          <p:cNvSpPr/>
          <p:nvPr/>
        </p:nvSpPr>
        <p:spPr>
          <a:xfrm>
            <a:off x="8705088" y="3090672"/>
            <a:ext cx="2560320" cy="438912"/>
          </a:xfrm>
          <a:prstGeom prst="rect">
            <a:avLst/>
          </a:prstGeom>
          <a:solidFill>
            <a:srgbClr val="1A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9" name="TextBox 48"/>
          <p:cNvSpPr txBox="1"/>
          <p:nvPr/>
        </p:nvSpPr>
        <p:spPr>
          <a:xfrm>
            <a:off x="6510528" y="31455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6312"/>
                </a:solidFill>
                <a:latin typeface="Calibri"/>
              </a:rPr>
              <a:t>visit_type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96528" y="314553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OPD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566160"/>
            <a:ext cx="2286000" cy="438912"/>
          </a:xfrm>
          <a:prstGeom prst="rect">
            <a:avLst/>
          </a:prstGeom>
          <a:solidFill>
            <a:srgbClr val="14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2" name="Rectangle 51"/>
          <p:cNvSpPr/>
          <p:nvPr/>
        </p:nvSpPr>
        <p:spPr>
          <a:xfrm>
            <a:off x="8705088" y="3566160"/>
            <a:ext cx="2560320" cy="438912"/>
          </a:xfrm>
          <a:prstGeom prst="rect">
            <a:avLst/>
          </a:prstGeom>
          <a:solidFill>
            <a:srgbClr val="14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3" name="TextBox 52"/>
          <p:cNvSpPr txBox="1"/>
          <p:nvPr/>
        </p:nvSpPr>
        <p:spPr>
          <a:xfrm>
            <a:off x="6510528" y="362102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6312"/>
                </a:solidFill>
                <a:latin typeface="Calibri"/>
              </a:rPr>
              <a:t>billed_amount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96528" y="362102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₹25,000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4041648"/>
            <a:ext cx="2286000" cy="438912"/>
          </a:xfrm>
          <a:prstGeom prst="rect">
            <a:avLst/>
          </a:prstGeom>
          <a:solidFill>
            <a:srgbClr val="1A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6" name="Rectangle 55"/>
          <p:cNvSpPr/>
          <p:nvPr/>
        </p:nvSpPr>
        <p:spPr>
          <a:xfrm>
            <a:off x="8705088" y="4041648"/>
            <a:ext cx="2560320" cy="438912"/>
          </a:xfrm>
          <a:prstGeom prst="rect">
            <a:avLst/>
          </a:prstGeom>
          <a:solidFill>
            <a:srgbClr val="1A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7" name="TextBox 56"/>
          <p:cNvSpPr txBox="1"/>
          <p:nvPr/>
        </p:nvSpPr>
        <p:spPr>
          <a:xfrm>
            <a:off x="6510528" y="409651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6312"/>
                </a:solidFill>
                <a:latin typeface="Calibri"/>
              </a:rPr>
              <a:t>insurance_provider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96528" y="409651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HealthPlus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517136"/>
            <a:ext cx="5321808" cy="502920"/>
          </a:xfrm>
          <a:prstGeom prst="rect">
            <a:avLst/>
          </a:prstGeom>
          <a:solidFill>
            <a:srgbClr val="EA6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0" name="TextBox 59"/>
          <p:cNvSpPr txBox="1"/>
          <p:nvPr/>
        </p:nvSpPr>
        <p:spPr>
          <a:xfrm>
            <a:off x="6510528" y="457200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Result:  claim_outcome = Rejected   |   revenue_risk_flag = True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5120640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0E2"/>
                </a:solidFill>
                <a:latin typeface="Calibri"/>
              </a:rPr>
              <a:t>confidence: {Paid:0.21, Pending:0.12, Rejected:0.67}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650992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ABEC1"/>
                </a:solidFill>
                <a:latin typeface="Calibri"/>
              </a:rPr>
              <a:t>⚠️  revenue_risk_flag = True when Rejected AND billed_amount &gt; ₹20,000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1320272" y="0"/>
            <a:ext cx="868680" cy="86868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CCE0E2"/>
                </a:solidFill>
                <a:latin typeface="Calibri"/>
              </a:rPr>
              <a:t>This project successfully demonstrates a complete end-to-end AI &amp; analytics pipeline for hospital operations. Model B meets the Rejected Recall ≥ 0.70 business target. Model A requires further tuning on class imbalance to improve High-Risk Recall.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8772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E6B729"/>
                </a:solidFill>
                <a:latin typeface="Calibri"/>
              </a:rPr>
              <a:t>✅  Key Success Factors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37728"/>
            <a:ext cx="109728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SQL Analytics Layer — 8 operational BI queries: departments, insurers &amp; revenue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Feature Engineering — 14 derived features including LOS ratios, rejection rates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Model B — LR achieves Rejected Recall=0.764, meeting the ≥ 0.70 business target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FastAPI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+ Docker — real-time predictions,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Pydantic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validation, SHA-256 audit log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PSI Drift Detection —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days_since_registration</a:t>
            </a:r>
            <a:r>
              <a:rPr sz="1400" b="0" dirty="0">
                <a:solidFill>
                  <a:srgbClr val="CCE0E2"/>
                </a:solidFill>
                <a:latin typeface="Calibri"/>
              </a:rPr>
              <a:t> flagged for retraining (PSI=1.27)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CCE0E2"/>
                </a:solidFill>
                <a:latin typeface="Calibri"/>
              </a:rPr>
              <a:t>➤ ₹6Cr+ Business Value — estimated annual impact across revenue &amp; ER </a:t>
            </a:r>
            <a:r>
              <a:rPr sz="1400" b="0" dirty="0" err="1">
                <a:solidFill>
                  <a:srgbClr val="CCE0E2"/>
                </a:solidFill>
                <a:latin typeface="Calibri"/>
              </a:rPr>
              <a:t>optimisation</a:t>
            </a:r>
            <a:endParaRPr lang="en-US" sz="1400" b="0" dirty="0">
              <a:solidFill>
                <a:srgbClr val="CCE0E2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endParaRPr sz="1400" b="0" dirty="0">
              <a:solidFill>
                <a:srgbClr val="CCE0E2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BEC1"/>
                </a:solidFill>
                <a:latin typeface="Calibri"/>
              </a:rPr>
              <a:t>AMARENDRANADH VEEREPALLI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E99C03-8989-7D35-7177-C3C716645E2E}"/>
              </a:ext>
            </a:extLst>
          </p:cNvPr>
          <p:cNvSpPr txBox="1"/>
          <p:nvPr/>
        </p:nvSpPr>
        <p:spPr>
          <a:xfrm>
            <a:off x="347472" y="4099295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E6B729"/>
                </a:solidFill>
                <a:latin typeface="Calibri"/>
              </a:rPr>
              <a:t>🚀  Scaling Strategy &amp; Roadmap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43B6CE-00E3-B650-4102-938CFBDCC787}"/>
              </a:ext>
            </a:extLst>
          </p:cNvPr>
          <p:cNvSpPr txBox="1"/>
          <p:nvPr/>
        </p:nvSpPr>
        <p:spPr>
          <a:xfrm>
            <a:off x="457200" y="4613640"/>
            <a:ext cx="1097280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 dirty="0">
                <a:solidFill>
                  <a:srgbClr val="E6B729"/>
                </a:solidFill>
                <a:latin typeface="Calibri"/>
              </a:rPr>
              <a:t>Now (Pilot — 5 cities):  </a:t>
            </a:r>
            <a:r>
              <a:rPr sz="1300" b="0" dirty="0">
                <a:solidFill>
                  <a:srgbClr val="CCE0E2"/>
                </a:solidFill>
                <a:latin typeface="Calibri"/>
              </a:rPr>
              <a:t>Deploy Model B into billing workflow · Insurer alignment workshops · Payback in 1–2 months</a:t>
            </a:r>
          </a:p>
          <a:p>
            <a:pPr>
              <a:spcAft>
                <a:spcPts val="300"/>
              </a:spcAft>
            </a:pPr>
            <a:r>
              <a:rPr sz="1300" b="1" dirty="0">
                <a:solidFill>
                  <a:srgbClr val="E6B729"/>
                </a:solidFill>
                <a:latin typeface="Calibri"/>
              </a:rPr>
              <a:t>Year 1 (Network expansion):  </a:t>
            </a:r>
            <a:r>
              <a:rPr sz="1300" b="0" dirty="0">
                <a:solidFill>
                  <a:srgbClr val="CCE0E2"/>
                </a:solidFill>
                <a:latin typeface="Calibri"/>
              </a:rPr>
              <a:t>Roll out to 15+ cities · Retrain Model A with clinical vitals · Integrate with HIS dashboards</a:t>
            </a:r>
          </a:p>
          <a:p>
            <a:pPr>
              <a:spcAft>
                <a:spcPts val="300"/>
              </a:spcAft>
            </a:pPr>
            <a:r>
              <a:rPr sz="1300" b="1" dirty="0">
                <a:solidFill>
                  <a:srgbClr val="E6B729"/>
                </a:solidFill>
                <a:latin typeface="Calibri"/>
              </a:rPr>
              <a:t>Year 2+ (Platform):  </a:t>
            </a:r>
            <a:r>
              <a:rPr sz="1300" b="0" dirty="0">
                <a:solidFill>
                  <a:srgbClr val="CCE0E2"/>
                </a:solidFill>
                <a:latin typeface="Calibri"/>
              </a:rPr>
              <a:t>Add LOS regression + readmission risk models · Multi-hospital federated retraining · ₹10Cr+ annual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1742</Words>
  <Application>Microsoft Macintosh PowerPoint</Application>
  <PresentationFormat>Custom</PresentationFormat>
  <Paragraphs>205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Amarendranadh Veerepalli</cp:lastModifiedBy>
  <cp:revision>7</cp:revision>
  <dcterms:created xsi:type="dcterms:W3CDTF">2013-01-27T09:14:16Z</dcterms:created>
  <dcterms:modified xsi:type="dcterms:W3CDTF">2026-04-18T18:26:18Z</dcterms:modified>
  <cp:category/>
</cp:coreProperties>
</file>